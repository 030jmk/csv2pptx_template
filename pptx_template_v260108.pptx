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147471741" r:id="rId2"/>
  </p:sldIdLst>
  <p:sldSz cx="9601200" cy="12801600" type="A3"/>
  <p:notesSz cx="6858000" cy="9144000"/>
  <p:defaultTextStyle>
    <a:defPPr>
      <a:defRPr lang="en-US"/>
    </a:defPPr>
    <a:lvl1pPr marL="0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07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14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21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28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035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042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050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058" algn="l" defTabSz="45700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448"/>
    <p:restoredTop sz="96194"/>
  </p:normalViewPr>
  <p:slideViewPr>
    <p:cSldViewPr snapToGrid="0">
      <p:cViewPr>
        <p:scale>
          <a:sx n="77" d="100"/>
          <a:sy n="77" d="100"/>
        </p:scale>
        <p:origin x="251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Maria Kopankiewicz (DE)" userId="1364ebf0-3d1d-4033-ad67-cb22f3c8ca6a" providerId="ADAL" clId="{6EB7A1AE-5CD7-5485-828A-37C42C936A2D}"/>
    <pc:docChg chg="modSld">
      <pc:chgData name="Jan Maria Kopankiewicz (DE)" userId="1364ebf0-3d1d-4033-ad67-cb22f3c8ca6a" providerId="ADAL" clId="{6EB7A1AE-5CD7-5485-828A-37C42C936A2D}" dt="2026-01-10T15:42:54.920" v="1" actId="20577"/>
      <pc:docMkLst>
        <pc:docMk/>
      </pc:docMkLst>
      <pc:sldChg chg="modSp mod">
        <pc:chgData name="Jan Maria Kopankiewicz (DE)" userId="1364ebf0-3d1d-4033-ad67-cb22f3c8ca6a" providerId="ADAL" clId="{6EB7A1AE-5CD7-5485-828A-37C42C936A2D}" dt="2026-01-10T15:42:54.920" v="1" actId="20577"/>
        <pc:sldMkLst>
          <pc:docMk/>
          <pc:sldMk cId="2610863792" sldId="2147471741"/>
        </pc:sldMkLst>
        <pc:spChg chg="mod">
          <ac:chgData name="Jan Maria Kopankiewicz (DE)" userId="1364ebf0-3d1d-4033-ad67-cb22f3c8ca6a" providerId="ADAL" clId="{6EB7A1AE-5CD7-5485-828A-37C42C936A2D}" dt="2026-01-10T15:42:54.920" v="1" actId="20577"/>
          <ac:spMkLst>
            <pc:docMk/>
            <pc:sldMk cId="2610863792" sldId="2147471741"/>
            <ac:spMk id="4" creationId="{284D56B6-713F-B2B9-61CA-5A364FD5A8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4FC1A-2786-9B40-AFDD-777A2884C2FE}" type="datetimeFigureOut">
              <a:rPr lang="en-DE" smtClean="0"/>
              <a:t>10.01.26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E1DFE-C12A-3F40-ADAB-1E6E982BE26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5912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07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014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021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028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035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042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050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058" algn="l" defTabSz="9140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6775-AE32-0DE7-78E1-894D1829F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E4D93-5C66-DB60-EA11-AD5797EBA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836C6-858D-0370-1F3A-CE8E149F8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0F1DA-086A-209D-514A-A55B56AB8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71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1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3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60197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49" indent="-240049" algn="l" defTabSz="96019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148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247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347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446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545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643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743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841" indent="-240049" algn="l" defTabSz="96019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99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97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297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397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495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594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693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792" algn="l" defTabSz="96019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017B9-A6C2-C625-5D9B-385C8A96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-team">
            <a:extLst>
              <a:ext uri="{FF2B5EF4-FFF2-40B4-BE49-F238E27FC236}">
                <a16:creationId xmlns:a16="http://schemas.microsoft.com/office/drawing/2014/main" id="{0F058FD4-D0C2-CF0F-7B0F-03CA30900CF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0000" y="2781286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Active Team 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sz="1200" dirty="0" err="1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Participats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</p:txBody>
      </p:sp>
      <p:sp>
        <p:nvSpPr>
          <p:cNvPr id="15" name="1-audience">
            <a:extLst>
              <a:ext uri="{FF2B5EF4-FFF2-40B4-BE49-F238E27FC236}">
                <a16:creationId xmlns:a16="http://schemas.microsoft.com/office/drawing/2014/main" id="{F69041E0-1376-E7D9-37B2-D8C82C8E457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01480" y="2781286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Audience | Focus Industry</a:t>
            </a:r>
          </a:p>
        </p:txBody>
      </p:sp>
      <p:sp>
        <p:nvSpPr>
          <p:cNvPr id="16" name="1-situation">
            <a:extLst>
              <a:ext uri="{FF2B5EF4-FFF2-40B4-BE49-F238E27FC236}">
                <a16:creationId xmlns:a16="http://schemas.microsoft.com/office/drawing/2014/main" id="{EF3B0E82-15B3-20C3-4B7E-7D445CE5C54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42960" y="2781286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Situation 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(Job to be done)</a:t>
            </a:r>
          </a:p>
          <a:p>
            <a:pPr lvl="1"/>
            <a:endParaRPr lang="en-US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1-problemstatement">
            <a:extLst>
              <a:ext uri="{FF2B5EF4-FFF2-40B4-BE49-F238E27FC236}">
                <a16:creationId xmlns:a16="http://schemas.microsoft.com/office/drawing/2014/main" id="{9F2380D2-1770-9743-237B-1B4753C0CAC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0000" y="4593043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 Statement</a:t>
            </a:r>
          </a:p>
        </p:txBody>
      </p:sp>
      <p:sp>
        <p:nvSpPr>
          <p:cNvPr id="18" name="1-inspiration">
            <a:extLst>
              <a:ext uri="{FF2B5EF4-FFF2-40B4-BE49-F238E27FC236}">
                <a16:creationId xmlns:a16="http://schemas.microsoft.com/office/drawing/2014/main" id="{A1B99FFD-F156-9B21-DAAC-4898C52933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01479" y="4593043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Inspiration | Market Alternatives</a:t>
            </a:r>
          </a:p>
        </p:txBody>
      </p:sp>
      <p:sp>
        <p:nvSpPr>
          <p:cNvPr id="19" name="1-concept">
            <a:extLst>
              <a:ext uri="{FF2B5EF4-FFF2-40B4-BE49-F238E27FC236}">
                <a16:creationId xmlns:a16="http://schemas.microsoft.com/office/drawing/2014/main" id="{671B58DD-86BE-AEF7-C5AC-5299B964162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42960" y="4593043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Concept | Vision | Idea</a:t>
            </a:r>
          </a:p>
          <a:p>
            <a:pPr lvl="1"/>
            <a:endParaRPr lang="en-US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1-technology">
            <a:extLst>
              <a:ext uri="{FF2B5EF4-FFF2-40B4-BE49-F238E27FC236}">
                <a16:creationId xmlns:a16="http://schemas.microsoft.com/office/drawing/2014/main" id="{8209DD26-41D5-EC14-7445-5ACCE3CC67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0000" y="6502001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Technological Set-up 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sz="1200" dirty="0" err="1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bxT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</p:txBody>
      </p:sp>
      <p:sp>
        <p:nvSpPr>
          <p:cNvPr id="27" name="1-experience">
            <a:extLst>
              <a:ext uri="{FF2B5EF4-FFF2-40B4-BE49-F238E27FC236}">
                <a16:creationId xmlns:a16="http://schemas.microsoft.com/office/drawing/2014/main" id="{2BB7974A-7E3A-90CF-5422-4012186C8B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401479" y="6502001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Experience | UX/UI Walkthrough 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sz="1200" dirty="0" err="1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bXt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lvl="1"/>
            <a:endParaRPr lang="en-US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8" name="1-business">
            <a:extLst>
              <a:ext uri="{FF2B5EF4-FFF2-40B4-BE49-F238E27FC236}">
                <a16:creationId xmlns:a16="http://schemas.microsoft.com/office/drawing/2014/main" id="{C9DD873E-C418-D340-4775-0FA3855B69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42960" y="6502001"/>
            <a:ext cx="2798237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Business Value Add 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sz="1200" dirty="0" err="1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Bxt</a:t>
            </a:r>
            <a:r>
              <a:rPr lang="en-US" sz="1200" dirty="0">
                <a:solidFill>
                  <a:schemeClr val="bg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 lvl="1"/>
            <a:endParaRPr lang="en-US" sz="12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1-visualization">
            <a:extLst>
              <a:ext uri="{FF2B5EF4-FFF2-40B4-BE49-F238E27FC236}">
                <a16:creationId xmlns:a16="http://schemas.microsoft.com/office/drawing/2014/main" id="{50D36CBA-DF98-6772-72D1-82513EAF5F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9999" y="8468161"/>
            <a:ext cx="2798236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Visualization of Deliverable</a:t>
            </a:r>
          </a:p>
        </p:txBody>
      </p:sp>
      <p:sp>
        <p:nvSpPr>
          <p:cNvPr id="40" name="1-learnings">
            <a:extLst>
              <a:ext uri="{FF2B5EF4-FFF2-40B4-BE49-F238E27FC236}">
                <a16:creationId xmlns:a16="http://schemas.microsoft.com/office/drawing/2014/main" id="{C83C62BB-C120-FC4E-8643-CEA7DF1FBD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42960" y="8468161"/>
            <a:ext cx="2798236" cy="250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Learnings</a:t>
            </a:r>
          </a:p>
        </p:txBody>
      </p:sp>
      <p:sp>
        <p:nvSpPr>
          <p:cNvPr id="2" name="2-linktomedia">
            <a:extLst>
              <a:ext uri="{FF2B5EF4-FFF2-40B4-BE49-F238E27FC236}">
                <a16:creationId xmlns:a16="http://schemas.microsoft.com/office/drawing/2014/main" id="{1F481B2B-A269-FCD2-37F7-BA9F690BAC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61597" y="10280262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Link to ext. Media</a:t>
            </a:r>
            <a:endParaRPr lang="en-US" sz="2053" dirty="0"/>
          </a:p>
        </p:txBody>
      </p:sp>
      <p:sp>
        <p:nvSpPr>
          <p:cNvPr id="5" name="2-takeaways">
            <a:extLst>
              <a:ext uri="{FF2B5EF4-FFF2-40B4-BE49-F238E27FC236}">
                <a16:creationId xmlns:a16="http://schemas.microsoft.com/office/drawing/2014/main" id="{511534F4-7FE0-07A0-4566-5222614AC4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61597" y="8712943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Key Take-Aways</a:t>
            </a:r>
            <a:endParaRPr lang="en-US" sz="2053" dirty="0"/>
          </a:p>
        </p:txBody>
      </p:sp>
      <p:sp>
        <p:nvSpPr>
          <p:cNvPr id="6" name="2-media">
            <a:extLst>
              <a:ext uri="{FF2B5EF4-FFF2-40B4-BE49-F238E27FC236}">
                <a16:creationId xmlns:a16="http://schemas.microsoft.com/office/drawing/2014/main" id="{3AF3052F-4D3F-4A67-DA62-B1DEF5470D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463398" y="9863709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Screenshots, Videos</a:t>
            </a:r>
            <a:endParaRPr lang="en-US" sz="2053" dirty="0"/>
          </a:p>
        </p:txBody>
      </p:sp>
      <p:sp>
        <p:nvSpPr>
          <p:cNvPr id="7" name="2-date">
            <a:extLst>
              <a:ext uri="{FF2B5EF4-FFF2-40B4-BE49-F238E27FC236}">
                <a16:creationId xmlns:a16="http://schemas.microsoft.com/office/drawing/2014/main" id="{27A7A8A4-737B-198C-C078-57AAD79D8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61597" y="146050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Date and approx. Quarter</a:t>
            </a:r>
            <a:endParaRPr lang="en-US" sz="2053" dirty="0"/>
          </a:p>
        </p:txBody>
      </p:sp>
      <p:sp>
        <p:nvSpPr>
          <p:cNvPr id="8" name="2-maturity">
            <a:extLst>
              <a:ext uri="{FF2B5EF4-FFF2-40B4-BE49-F238E27FC236}">
                <a16:creationId xmlns:a16="http://schemas.microsoft.com/office/drawing/2014/main" id="{FC8A32EA-1081-B745-DA9A-D597E593E8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961597" y="867979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Level of Maturity / TRL(1-9)</a:t>
            </a:r>
            <a:endParaRPr lang="en-US" sz="2053" dirty="0"/>
          </a:p>
        </p:txBody>
      </p:sp>
      <p:sp>
        <p:nvSpPr>
          <p:cNvPr id="9" name="2-templatecontact">
            <a:extLst>
              <a:ext uri="{FF2B5EF4-FFF2-40B4-BE49-F238E27FC236}">
                <a16:creationId xmlns:a16="http://schemas.microsoft.com/office/drawing/2014/main" id="{96DFC13B-D4D8-157A-E705-03B71490B3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438048"/>
            <a:ext cx="2664972" cy="1036762"/>
          </a:xfrm>
          <a:prstGeom prst="roundRect">
            <a:avLst/>
          </a:prstGeom>
          <a:solidFill>
            <a:srgbClr val="069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53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Template Version: </a:t>
            </a:r>
            <a:br>
              <a:rPr lang="en-US" sz="2053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26.1.8a</a:t>
            </a:r>
            <a:endParaRPr lang="en-US" sz="2053" b="1" dirty="0"/>
          </a:p>
        </p:txBody>
      </p:sp>
      <p:sp>
        <p:nvSpPr>
          <p:cNvPr id="10" name="2-templatecontact">
            <a:extLst>
              <a:ext uri="{FF2B5EF4-FFF2-40B4-BE49-F238E27FC236}">
                <a16:creationId xmlns:a16="http://schemas.microsoft.com/office/drawing/2014/main" id="{6EBFF78F-6C85-D446-1A88-0DEBB2B3B0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87386" y="-1438048"/>
            <a:ext cx="3960886" cy="1036762"/>
          </a:xfrm>
          <a:prstGeom prst="roundRect">
            <a:avLst/>
          </a:prstGeom>
          <a:solidFill>
            <a:srgbClr val="069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53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Template Contact:</a:t>
            </a:r>
            <a:b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Jan Maria Kopankiewicz (DE)</a:t>
            </a:r>
            <a:endParaRPr lang="en-US" sz="2053" dirty="0"/>
          </a:p>
        </p:txBody>
      </p:sp>
      <p:sp>
        <p:nvSpPr>
          <p:cNvPr id="11" name="2-BXT">
            <a:extLst>
              <a:ext uri="{FF2B5EF4-FFF2-40B4-BE49-F238E27FC236}">
                <a16:creationId xmlns:a16="http://schemas.microsoft.com/office/drawing/2014/main" id="{093899DC-D44C-2FEE-D23B-56192E84CF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463398" y="6400800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Elements of BXT</a:t>
            </a:r>
            <a:endParaRPr lang="en-US" sz="2053" dirty="0"/>
          </a:p>
        </p:txBody>
      </p:sp>
      <p:sp>
        <p:nvSpPr>
          <p:cNvPr id="14" name="2-BMC">
            <a:extLst>
              <a:ext uri="{FF2B5EF4-FFF2-40B4-BE49-F238E27FC236}">
                <a16:creationId xmlns:a16="http://schemas.microsoft.com/office/drawing/2014/main" id="{556D2A57-CC23-DC5A-B7FC-BB01CE6F2B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463394" y="2906517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Elements of BMC</a:t>
            </a:r>
            <a:endParaRPr lang="en-US" sz="2053" dirty="0"/>
          </a:p>
        </p:txBody>
      </p:sp>
      <p:sp>
        <p:nvSpPr>
          <p:cNvPr id="32" name="2-VPC">
            <a:extLst>
              <a:ext uri="{FF2B5EF4-FFF2-40B4-BE49-F238E27FC236}">
                <a16:creationId xmlns:a16="http://schemas.microsoft.com/office/drawing/2014/main" id="{70E95A6B-5E44-B4CC-9598-05506F03F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463396" y="4718274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Elements of VPC</a:t>
            </a:r>
            <a:endParaRPr lang="en-US" sz="2053" dirty="0"/>
          </a:p>
        </p:txBody>
      </p:sp>
      <p:sp>
        <p:nvSpPr>
          <p:cNvPr id="33" name="2-title">
            <a:extLst>
              <a:ext uri="{FF2B5EF4-FFF2-40B4-BE49-F238E27FC236}">
                <a16:creationId xmlns:a16="http://schemas.microsoft.com/office/drawing/2014/main" id="{391A9D8A-8413-0EFF-3558-3A0D7FFF30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463398" y="488345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Descriptive Title</a:t>
            </a:r>
            <a:endParaRPr lang="en-US" sz="2053" dirty="0"/>
          </a:p>
        </p:txBody>
      </p:sp>
      <p:sp>
        <p:nvSpPr>
          <p:cNvPr id="42" name="2-abstract">
            <a:extLst>
              <a:ext uri="{FF2B5EF4-FFF2-40B4-BE49-F238E27FC236}">
                <a16:creationId xmlns:a16="http://schemas.microsoft.com/office/drawing/2014/main" id="{21F0352E-6820-9C52-30E4-E80E410BC2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4463398" y="1342755"/>
            <a:ext cx="3777986" cy="639839"/>
          </a:xfrm>
          <a:prstGeom prst="roundRect">
            <a:avLst/>
          </a:prstGeom>
          <a:solidFill>
            <a:srgbClr val="FD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53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Short Abstract</a:t>
            </a:r>
            <a:endParaRPr lang="en-US" sz="2053" dirty="0"/>
          </a:p>
        </p:txBody>
      </p:sp>
      <p:sp>
        <p:nvSpPr>
          <p:cNvPr id="45" name="URL">
            <a:extLst>
              <a:ext uri="{FF2B5EF4-FFF2-40B4-BE49-F238E27FC236}">
                <a16:creationId xmlns:a16="http://schemas.microsoft.com/office/drawing/2014/main" id="{D2F2D7F9-DF0F-BF15-7F3F-0723044FAF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2958" y="10280262"/>
            <a:ext cx="2611802" cy="1611632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r>
              <a:rPr lang="en-DE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</a:t>
            </a:r>
          </a:p>
        </p:txBody>
      </p:sp>
      <p:sp>
        <p:nvSpPr>
          <p:cNvPr id="44" name="Learnings">
            <a:extLst>
              <a:ext uri="{FF2B5EF4-FFF2-40B4-BE49-F238E27FC236}">
                <a16:creationId xmlns:a16="http://schemas.microsoft.com/office/drawing/2014/main" id="{99EF4028-FDB5-9D78-FF6C-A256D18ED2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2958" y="8712944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What expertise or knowledge have we acquired during the process?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41" name="Visualization">
            <a:extLst>
              <a:ext uri="{FF2B5EF4-FFF2-40B4-BE49-F238E27FC236}">
                <a16:creationId xmlns:a16="http://schemas.microsoft.com/office/drawing/2014/main" id="{EAF1081D-1010-031A-517E-A451FC3B3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9996" y="8712943"/>
            <a:ext cx="5653281" cy="1344001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4356000" rtlCol="0" anchor="t"/>
          <a:lstStyle/>
          <a:p>
            <a:r>
              <a:rPr 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Multimedia content, interactive demonstrator, link to demonstrator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29" name="Business">
            <a:extLst>
              <a:ext uri="{FF2B5EF4-FFF2-40B4-BE49-F238E27FC236}">
                <a16:creationId xmlns:a16="http://schemas.microsoft.com/office/drawing/2014/main" id="{83B07EE6-181A-EC53-B4F4-1B5D2504E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2958" y="6809067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What is the thing that acts as the Pain Reliever and Gain Creator?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30" name="Experience">
            <a:extLst>
              <a:ext uri="{FF2B5EF4-FFF2-40B4-BE49-F238E27FC236}">
                <a16:creationId xmlns:a16="http://schemas.microsoft.com/office/drawing/2014/main" id="{9B2DD276-5258-E872-6C99-6B18ED7B6B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1477" y="6809067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What is the thing that acts as the Pain Reliever and Gain Creator?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31" name="Technology">
            <a:extLst>
              <a:ext uri="{FF2B5EF4-FFF2-40B4-BE49-F238E27FC236}">
                <a16:creationId xmlns:a16="http://schemas.microsoft.com/office/drawing/2014/main" id="{E09C6883-EC4E-44C6-EDAA-CE9AB2F1C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000" y="6809063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”How Might We …”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20" name="Concept">
            <a:extLst>
              <a:ext uri="{FF2B5EF4-FFF2-40B4-BE49-F238E27FC236}">
                <a16:creationId xmlns:a16="http://schemas.microsoft.com/office/drawing/2014/main" id="{1177ED42-369B-5298-2E7A-9876554C63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2958" y="4918373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What is the thing that acts as the Pain Reliever and Gain Creator?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22" name="Inspiration">
            <a:extLst>
              <a:ext uri="{FF2B5EF4-FFF2-40B4-BE49-F238E27FC236}">
                <a16:creationId xmlns:a16="http://schemas.microsoft.com/office/drawing/2014/main" id="{C0807C5F-33C1-9AD6-2C3E-058833E639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1477" y="4918373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What is the thing that acts as the Pain Reliever and Gain Creator?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24" name="ProblemStatement">
            <a:extLst>
              <a:ext uri="{FF2B5EF4-FFF2-40B4-BE49-F238E27FC236}">
                <a16:creationId xmlns:a16="http://schemas.microsoft.com/office/drawing/2014/main" id="{7CEDFA27-2148-31CD-5F1B-85CA9B75BF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000" y="4918369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”How Might We …”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21" name="Situation">
            <a:extLst>
              <a:ext uri="{FF2B5EF4-FFF2-40B4-BE49-F238E27FC236}">
                <a16:creationId xmlns:a16="http://schemas.microsoft.com/office/drawing/2014/main" id="{3334E9F3-EEA6-BE8F-6893-04F6A62DA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2958" y="3031748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What is the Status Quo and what is acting as a barrier to success?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23" name="Audience">
            <a:extLst>
              <a:ext uri="{FF2B5EF4-FFF2-40B4-BE49-F238E27FC236}">
                <a16:creationId xmlns:a16="http://schemas.microsoft.com/office/drawing/2014/main" id="{EEE2CB63-6CE9-1F42-CA76-F77A5567A5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01477" y="3031748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Who is the recipient or beneficiary of the solution?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25" name="Team">
            <a:extLst>
              <a:ext uri="{FF2B5EF4-FFF2-40B4-BE49-F238E27FC236}">
                <a16:creationId xmlns:a16="http://schemas.microsoft.com/office/drawing/2014/main" id="{8AE62542-0C26-95FE-DB31-073716DA94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9999" y="3031748"/>
            <a:ext cx="2611801" cy="1344000"/>
          </a:xfrm>
          <a:prstGeom prst="roundRect">
            <a:avLst/>
          </a:pr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Who is the recipient or beneficiary of the solution?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  <a:latin typeface="ITC Charter Com" panose="02040503050906060B04" pitchFamily="18" charset="77"/>
            </a:endParaRPr>
          </a:p>
        </p:txBody>
      </p:sp>
      <p:sp>
        <p:nvSpPr>
          <p:cNvPr id="4" name="Abstract">
            <a:extLst>
              <a:ext uri="{FF2B5EF4-FFF2-40B4-BE49-F238E27FC236}">
                <a16:creationId xmlns:a16="http://schemas.microsoft.com/office/drawing/2014/main" id="{284D56B6-713F-B2B9-61CA-5A364FD5A8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19991"/>
            <a:ext cx="9601200" cy="1155883"/>
          </a:xfrm>
          <a:prstGeom prst="rect">
            <a:avLst/>
          </a:prstGeom>
          <a:noFill/>
          <a:ln>
            <a:noFill/>
          </a:ln>
        </p:spPr>
        <p:txBody>
          <a:bodyPr vert="horz" lIns="360000" tIns="85344" rIns="360000" bIns="85344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Abstract/Description</a:t>
            </a:r>
            <a:endParaRPr lang="en-GB" sz="1600" dirty="0">
              <a:latin typeface="ITC Charter Com" panose="02040503050906060B04" pitchFamily="18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DemoName">
            <a:extLst>
              <a:ext uri="{FF2B5EF4-FFF2-40B4-BE49-F238E27FC236}">
                <a16:creationId xmlns:a16="http://schemas.microsoft.com/office/drawing/2014/main" id="{6DDFBCAD-9C24-9759-B14F-729639CEE8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0" y="519893"/>
            <a:ext cx="7840133" cy="696172"/>
          </a:xfrm>
          <a:prstGeom prst="rect">
            <a:avLst/>
          </a:prstGeom>
        </p:spPr>
        <p:txBody>
          <a:bodyPr lIns="360000" rIns="360000" anchor="t">
            <a:normAutofit/>
          </a:bodyPr>
          <a:lstStyle/>
          <a:p>
            <a:r>
              <a:rPr lang="en-GB" sz="4000" b="1" noProof="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 </a:t>
            </a:r>
            <a:r>
              <a:rPr lang="en-GB" sz="4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Name</a:t>
            </a:r>
            <a:endParaRPr lang="en-GB" sz="4000" noProof="0" dirty="0">
              <a:latin typeface="ITC Charter Com" panose="02040503050906060B04" pitchFamily="18" charset="77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Maturity">
            <a:extLst>
              <a:ext uri="{FF2B5EF4-FFF2-40B4-BE49-F238E27FC236}">
                <a16:creationId xmlns:a16="http://schemas.microsoft.com/office/drawing/2014/main" id="{A193A492-F2BF-4630-EB7F-25CE8F730F2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508559"/>
            <a:ext cx="9601199" cy="306020"/>
          </a:xfrm>
          <a:prstGeom prst="rect">
            <a:avLst/>
          </a:prstGeom>
        </p:spPr>
        <p:txBody>
          <a:bodyPr vert="horz" lIns="360000" tIns="0" rIns="360000" bIns="0" rtlCol="0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Maturity</a:t>
            </a:r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3955AACA-B870-A117-13C2-BC8CEA8524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46050"/>
            <a:ext cx="9601200" cy="362509"/>
          </a:xfrm>
          <a:prstGeom prst="rect">
            <a:avLst/>
          </a:prstGeom>
        </p:spPr>
        <p:txBody>
          <a:bodyPr vert="horz" lIns="360000" tIns="85344" rIns="360000" bIns="85344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ITC Charter Com" panose="02040503050906060B04" pitchFamily="18" charset="77"/>
                <a:ea typeface="Helvetica Neue" panose="02000503000000020004" pitchFamily="2" charset="0"/>
                <a:cs typeface="Helvetica Neue" panose="02000503000000020004" pitchFamily="2" charset="0"/>
              </a:rPr>
              <a:t>YYYY/Quarter</a:t>
            </a:r>
          </a:p>
        </p:txBody>
      </p:sp>
    </p:spTree>
    <p:extLst>
      <p:ext uri="{BB962C8B-B14F-4D97-AF65-F5344CB8AC3E}">
        <p14:creationId xmlns:p14="http://schemas.microsoft.com/office/powerpoint/2010/main" val="261086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mo_Template_2026-01-07_web.potx" id="{3C301E5E-A835-AE4F-BC7E-64D1344ACD42}" vid="{2D0AF96C-F60C-FC47-9AB2-1E255ED517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5751</TotalTime>
  <Words>238</Words>
  <Application>Microsoft Macintosh PowerPoint</Application>
  <PresentationFormat>A3 Paper (297x420 mm)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Helvetica Neue</vt:lpstr>
      <vt:lpstr>ITC Charter Com</vt:lpstr>
      <vt:lpstr>Office Theme</vt:lpstr>
      <vt:lpstr>Demo 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Maria Kopankiewicz (DE)</dc:creator>
  <cp:lastModifiedBy>Jan Maria Kopankiewicz (DE)</cp:lastModifiedBy>
  <cp:revision>17</cp:revision>
  <dcterms:created xsi:type="dcterms:W3CDTF">2026-01-06T13:15:36Z</dcterms:created>
  <dcterms:modified xsi:type="dcterms:W3CDTF">2026-01-10T15:42:56Z</dcterms:modified>
</cp:coreProperties>
</file>